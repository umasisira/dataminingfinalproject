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42"/>
    <p:restoredTop sz="94610"/>
  </p:normalViewPr>
  <p:slideViewPr>
    <p:cSldViewPr snapToGrid="0" snapToObjects="1">
      <p:cViewPr>
        <p:scale>
          <a:sx n="230" d="100"/>
          <a:sy n="230" d="100"/>
        </p:scale>
        <p:origin x="-9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39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maSisira/DataMiningFinalProj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E4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91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50" kern="0" spc="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INFSCI2160 DATA MINING |  FINAL PROJECT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92608" y="4572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People Panic,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" y="7863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They Google It First?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2608" y="1335024"/>
            <a:ext cx="91440" cy="914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335024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1335024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1335024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1335024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" y="1335024"/>
            <a:ext cx="91440" cy="9144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15727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92608" y="18288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sentiment surveys are monthly and lagged -- a slow signal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views are daily, free, and passively observed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attention spikes for crisis topics predict sentiment drops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28346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2608" y="3090672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multiples: one panel per topic, no spaghetti overlap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normalization: removes scale gap (Trump vs. Anxiety)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Delta-r: month-over-month changes strip trend noise and isolate spikes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89204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Sisira Akella   |   github.com/UmaSisira/DataMiningFinalProject</a:t>
            </a:r>
            <a:endParaRPr lang="en-US" sz="7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331" y="194310"/>
            <a:ext cx="54967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Shows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Delta-r = correlation of month-over-month changes in Wikipedia views vs. UMich Consumer Sentiment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02336" y="1005840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1005840"/>
            <a:ext cx="54864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7899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21208" y="1261872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-0.21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" y="16276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signal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84832" y="1005840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005840"/>
            <a:ext cx="54864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107899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03704" y="1261872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-0.28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03704" y="16276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signal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67328" y="1005840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1005840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07899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86200" y="1261872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-0.13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86200" y="16276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signal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49824" y="1005840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1005840"/>
            <a:ext cx="54864" cy="8412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07899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68696" y="1261872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-0.11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568696" y="16276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signal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32320" y="1005840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0" y="1005840"/>
            <a:ext cx="54864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07899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51192" y="1261872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-0.11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51192" y="16276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signal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26080" y="1993392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0" y="1993392"/>
            <a:ext cx="54864" cy="8412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4952" y="206654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44952" y="22494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+0.04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044952" y="261518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08576" y="1993392"/>
            <a:ext cx="160934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1993392"/>
            <a:ext cx="54864" cy="84124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206654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27448" y="224942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 = +0.08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727448" y="261518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2980944"/>
            <a:ext cx="859536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980944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980944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shows the strongest panic signal (Dr = -0.28). In June 2022, Wikipedia views for Inflation, Recession, and Unemployment all spiked simultaneously while the UMich Sentiment Index hit its lowest point in the study period.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382219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74320" y="40233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Wikipedia views could complement lagged sentiment surveys as a faster, real-time proxy for collective economic anxiety -- with implications for policymakers and researchers seeking earlier distress signals.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82219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402336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area = Wikipedia views (normalized). Black line = UMich Sentiment (higher = more confident). Negative Dr means views up, sentiment down = panic.</a:t>
            </a:r>
            <a:endParaRPr lang="en-US" sz="900" dirty="0"/>
          </a:p>
        </p:txBody>
      </p:sp>
      <p:sp>
        <p:nvSpPr>
          <p:cNvPr id="46" name="Text 44">
            <a:hlinkClick r:id="rId3"/>
          </p:cNvPr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u="sng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github.com/UmaSisira/DataMiningFinalProject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279</Words>
  <Application>Microsoft Macintosh PowerPoint</Application>
  <PresentationFormat>On-screen Show 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Collective Attention Spikes and Economic Anxiety</dc:title>
  <dc:subject>PptxGenJS Presentation</dc:subject>
  <dc:creator>Uma Sisira</dc:creator>
  <cp:lastModifiedBy>Uma Sisira Akella</cp:lastModifiedBy>
  <cp:revision>2</cp:revision>
  <dcterms:created xsi:type="dcterms:W3CDTF">2026-04-18T22:19:13Z</dcterms:created>
  <dcterms:modified xsi:type="dcterms:W3CDTF">2026-04-19T01:24:27Z</dcterms:modified>
</cp:coreProperties>
</file>